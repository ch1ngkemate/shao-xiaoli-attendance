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09728" cy="32004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  |   专题交流活动   |   2026年5月9日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C41E2A"/>
                </a:solidFill>
                <a:latin typeface="Microsoft YaHei"/>
              </a:defRPr>
            </a:pPr>
            <a:r>
              <a:t>工商管理专业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747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D2D2D"/>
                </a:solidFill>
                <a:latin typeface="Microsoft YaHei"/>
              </a:defRPr>
            </a:pPr>
            <a:r>
              <a:t>学业与职业规划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07070"/>
                </a:solidFill>
                <a:latin typeface="Microsoft YaHei"/>
              </a:defRPr>
            </a:pPr>
            <a:r>
              <a:t>——  立足建筑行业  ·  赋能管理未来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5166360"/>
            <a:ext cx="365760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440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宿 舍 小 组 ：追 光 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目  录 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600200"/>
            <a:ext cx="77724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16002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1E2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691640"/>
            <a:ext cx="54864" cy="5029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600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Microsoft YaHei"/>
              </a:defRPr>
            </a:pPr>
            <a:r>
              <a:t>工商管理专业现状分析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56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优势 · 挑战 · 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606040"/>
            <a:ext cx="7772400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1E2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697480"/>
            <a:ext cx="54864" cy="5029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Microsoft YaHei"/>
              </a:defRPr>
            </a:pPr>
            <a:r>
              <a:t>专业未来发展研判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62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数字化 · 绿色建筑 · 复合人才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611880"/>
            <a:ext cx="77724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611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1E2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703320"/>
            <a:ext cx="54864" cy="5029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Microsoft YaHei"/>
              </a:defRPr>
            </a:pPr>
            <a:r>
              <a:t>大学生活与学习规划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68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四年路线图 · 技能路径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617720"/>
            <a:ext cx="7772400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617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1E2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4709160"/>
            <a:ext cx="54864" cy="5029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617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Microsoft YaHei"/>
              </a:defRPr>
            </a:pPr>
            <a:r>
              <a:t>未来职业方向选择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9743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就业 / 升学 / 考公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5623560"/>
            <a:ext cx="77724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562356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1E2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5715000"/>
            <a:ext cx="54864" cy="5029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5623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Microsoft YaHei"/>
              </a:defRPr>
            </a:pPr>
            <a:r>
              <a:t>小组分工与成员观点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980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六种视角 · 一种使命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1440" cy="27432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C41E2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工商管理专业现状分析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70"/>
                </a:solidFill>
                <a:latin typeface="Microsoft YaHei"/>
              </a:defRPr>
            </a:pPr>
            <a:r>
              <a:t>我们的优势 · 我们的挑战 · 我们的定位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学科优势：建筑 + 管理的双重基因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383280" cy="7315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41E2A"/>
                </a:solidFill>
                <a:latin typeface="Microsoft YaHei"/>
              </a:defRPr>
            </a:pPr>
            <a:r>
              <a:t>60+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年历史传承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331720"/>
            <a:ext cx="2834640" cy="2743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专业源自1956年"建筑经济组织与计划管理"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国家级一流本科专业建设点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工商管理一级学科硕士点支撑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陕西省专业综合改革试点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371600"/>
            <a:ext cx="338328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68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大特色微方向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331720"/>
            <a:ext cx="283464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城市建设与运营（房开+项目管理）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数据智能与商业决策（AIGC+BI）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市场营销 / 人力资源 / 供应链运营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含国际工程投资策划等前沿课程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73E8"/>
                </a:solidFill>
                <a:latin typeface="Microsoft YaHei"/>
              </a:defRPr>
            </a:pPr>
            <a:r>
              <a:t>400+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8745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人入职世界500强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2331720"/>
            <a:ext cx="2834640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近三年入职中建、中铁等500强企业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管理学院整体就业率稳定90%以上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工程管理专业2025届就业率97.70%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✦ 校友网络遍布中西部地区建企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现实挑战：我们需要正视的问题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1572768"/>
            <a:ext cx="274320" cy="2743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课程广度多于深度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10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❖ 管理学/经济/财务/HR都学，但每门不精   →   大三选择微方向聚焦，辅修BIM/造价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59152"/>
            <a:ext cx="10332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560320"/>
            <a:ext cx="274320" cy="2743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4323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建筑行业周期性波动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9806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❖ 房地产下行影响传统岗位，工商管理就业率82.35%   →   拓展数字化技能，不只盯着传统建企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46704"/>
            <a:ext cx="10332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3547872"/>
            <a:ext cx="274320" cy="2743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3419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技术硬壁垒不足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856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❖ 相比工管/土木缺乏硬核技术标签   →   主动学BIM基础、Python数据分析、工程造价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34256"/>
            <a:ext cx="10332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" y="4535424"/>
            <a:ext cx="274320" cy="2743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407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优质实习竞争激烈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73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❖ 陕建/中建等企业实习名额有限   →   大二起参加商赛+项目经验，提升简历含金量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21808"/>
            <a:ext cx="103327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" y="5522976"/>
            <a:ext cx="274320" cy="2743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Microsoft YaHei"/>
              </a:defRPr>
            </a:pPr>
            <a:r>
              <a:t>西北区域产业规模有限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760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❖ 建筑体量小于东部沿海   →   善用校友网络+瞄准中西部建企总部/区域公司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2A"/>
                </a:solidFill>
                <a:latin typeface="Microsoft YaHei"/>
              </a:defRPr>
            </a:pPr>
            <a:r>
              <a:t>▸ 短板不可怕，关键是用行动补齐 —— 提前2-3年规划执行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课程地图：从课堂到岗位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029200" cy="4846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2A"/>
                </a:solidFill>
                <a:latin typeface="Microsoft YaHei"/>
              </a:defRPr>
            </a:pPr>
            <a:r>
              <a:t>📚 四层课程体系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707070"/>
                </a:solidFill>
                <a:latin typeface="Microsoft YaHei"/>
              </a:defRPr>
            </a:pPr>
            <a:r>
              <a:t>▌通识基础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   高数 / 线代 / 概率论 / 工图 / 土木概论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▌学科基础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   管理学 / 微观经济学 / 运筹学 / 管理统计 / 会计学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▌专业核心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   组织行为学 / 战略管理 / 财务管理 / 运营 / HRM / 市场营销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41E2A"/>
                </a:solidFill>
                <a:latin typeface="Microsoft YaHei"/>
              </a:defRPr>
            </a:pPr>
            <a:r>
              <a:t>▌行业特色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   技术经济学 / 房开经营 / 工程项目管理 / 建筑企业管理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37B33"/>
                </a:solidFill>
                <a:latin typeface="Microsoft YaHei"/>
              </a:defRPr>
            </a:pPr>
            <a:r>
              <a:t>▌数智前沿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   大数据商业决策 / 生成式AI / 商务数据分析 / 数字化营销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🏢 课岗精准对应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2103120"/>
            <a:ext cx="182880" cy="1828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93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2A"/>
                </a:solidFill>
                <a:latin typeface="Microsoft YaHei"/>
              </a:defRPr>
            </a:pPr>
            <a:r>
              <a:t>项目+技术经济学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施工企业 → 项目经理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2788920"/>
            <a:ext cx="182880" cy="1828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2A"/>
                </a:solidFill>
                <a:latin typeface="Microsoft YaHei"/>
              </a:defRPr>
            </a:pPr>
            <a:r>
              <a:t>房开经营+营销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房企 → 投资拓展/策划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3474720"/>
            <a:ext cx="182880" cy="1828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2A"/>
                </a:solidFill>
                <a:latin typeface="Microsoft YaHei"/>
              </a:defRPr>
            </a:pPr>
            <a:r>
              <a:t>财务管理+经济法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工程咨询 → 成本控制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4160520"/>
            <a:ext cx="182880" cy="1828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050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2A"/>
                </a:solidFill>
                <a:latin typeface="Microsoft YaHei"/>
              </a:defRPr>
            </a:pPr>
            <a:r>
              <a:t>HRM+组织行为学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建企总部 → HRBP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4846320"/>
            <a:ext cx="182880" cy="1828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2A"/>
                </a:solidFill>
                <a:latin typeface="Microsoft YaHei"/>
              </a:defRPr>
            </a:pPr>
            <a:r>
              <a:t>国际工程+跨文化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海外工程 → 商务经理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5532120"/>
            <a:ext cx="182880" cy="18288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5422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2A"/>
                </a:solidFill>
                <a:latin typeface="Microsoft YaHei"/>
              </a:defRPr>
            </a:pPr>
            <a:r>
              <a:t>数智管理+数据分析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建筑科技 → 数字运营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1440" cy="27432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C41E2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专业未来发展研判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70"/>
                </a:solidFill>
                <a:latin typeface="Microsoft YaHei"/>
              </a:defRPr>
            </a:pPr>
            <a:r>
              <a:t>数字化转型 · 绿色建筑 · 复合型人才需求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建筑行业管理岗位的三大变革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38328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数字化转型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智慧工地市场规模年增超15%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数字孪生项目经理 / BIM总监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IoT项目总监等新岗位涌现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71%建筑业高管对前景乐观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● —— 毕马威2026全球建筑业调查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383280" cy="1005840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绿色低碳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"双碳"政策推动绿色建筑占比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到2030年目标提升至60%以上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碳排放管理师 / ESG合规经理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绿色建筑咨询市场规模千亿级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● —— 国家发改委绿色建筑行动方案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3832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63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国际化拓展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"一带一路"沿线在建项目超3000个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国际工程商务经理 / FIDIC合同专员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对外承包工程年营业额超1600亿美元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● 全过程工程咨询政策全面推进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● —— 中国对外承包工程商会2026数据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8064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人才缺口：中间层"懂技术+懂管理"的复合型人才缺口高达 120万 —— 不是人多，是符合新要求的人太少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未来 5 年最具竞争力的管理人才画像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91440" cy="20116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建筑科技产品经理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847088"/>
            <a:ext cx="22860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56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跨界稀缺型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懂建筑业务+IT产品逻辑</a:t>
            </a:r>
            <a:br/>
            <a:r>
              <a:t>定义智慧工地/BIM SaaS产品</a:t>
            </a:r>
            <a:br/>
            <a:r>
              <a:t>年薪：25-45万（一线城市）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91440" cy="2011680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数字孪生项目经理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847088"/>
            <a:ext cx="2286000" cy="320040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856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行业领军型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31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用BIM+GIS做全过程项目管理</a:t>
            </a:r>
            <a:br/>
            <a:r>
              <a:t>EPC总承包+全过程工程咨询</a:t>
            </a:r>
            <a:br/>
            <a:r>
              <a:t>年薪：30-60万（海外更高）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91440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工程商务经理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4133087"/>
            <a:ext cx="22860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142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转型升级型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17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精通FIDIC合同+国际计价</a:t>
            </a:r>
            <a:br/>
            <a:r>
              <a:t>用数据分析管控成本与风险</a:t>
            </a:r>
            <a:br/>
            <a:r>
              <a:t>年薪：18-35万（含驻外补贴）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657600"/>
            <a:ext cx="91440" cy="201168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Microsoft YaHei"/>
              </a:defRPr>
            </a:pPr>
            <a:r>
              <a:t>数字化档案/资料管理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4133087"/>
            <a:ext cx="2286000" cy="32004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142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适应升级型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17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AI+数字化流程已替代80%文职</a:t>
            </a:r>
            <a:br/>
            <a:r>
              <a:t>需掌握电子签章/一键组卷/合规</a:t>
            </a:r>
            <a:br/>
            <a:r>
              <a:t>传统"抄抄写写"将被淘汰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897880"/>
            <a:ext cx="10332720" cy="43891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89788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▸ 竞争力公式：建筑业务知识 (40%)  ＋  数据分析能力 (30%)  ＋  管理协调能力 (30%)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机遇 vs 挑战：SWOT 研判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51206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73152" cy="1600200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7B33"/>
                </a:solidFill>
                <a:latin typeface="Microsoft YaHei"/>
              </a:defRPr>
            </a:pPr>
            <a:r>
              <a:t>S  优势 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国家级一流专业建设点 | 60年建筑经济管理底蕴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校友网络在中西部建企认可度高 | 数智化方向（AIGC）布局领先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1206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81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Microsoft YaHei"/>
              </a:defRPr>
            </a:pPr>
            <a:r>
              <a:t>W  劣势  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课程广度大于深度 | 技术硬技能需额外补充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与工管/土木比专业辨识度略低 | 西北区域产业规模有限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51206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291840"/>
            <a:ext cx="73152" cy="1600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01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Microsoft YaHei"/>
              </a:defRPr>
            </a:pPr>
            <a:r>
              <a:t>O  机会 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绿色建筑/双碳催生新型管理岗 | BIM推广急需复合人才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"一带一路"国际工程管理需求 | 全过程工程咨询政策推进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51206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91840"/>
            <a:ext cx="73152" cy="16002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401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2A"/>
                </a:solidFill>
                <a:latin typeface="Microsoft YaHei"/>
              </a:defRPr>
            </a:pPr>
            <a:r>
              <a:t>T  威胁  Threats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86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房地产下行影响传统岗位 | AI替代部分基础管理职能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✦ 东部高校毕业生竞争激烈 | 建筑行业周期性波动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166360"/>
            <a:ext cx="2468880" cy="548640"/>
          </a:xfrm>
          <a:prstGeom prst="round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93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SO策略：优先对接绿建/国际工程实习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166360"/>
            <a:ext cx="24688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5193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WO策略：弥补技术短板（BIM+数据）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166360"/>
            <a:ext cx="246888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193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ST策略：拓展建筑科技新赛道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166360"/>
            <a:ext cx="2468880" cy="548640"/>
          </a:xfrm>
          <a:prstGeom prst="round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5193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WT策略：考取行业证书增强硬实力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1440" cy="27432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C41E2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大学生活与学习规划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70"/>
                </a:solidFill>
                <a:latin typeface="Microsoft YaHei"/>
              </a:defRPr>
            </a:pPr>
            <a:r>
              <a:t>四年 · 四个阶段 · 一份成长路线图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学业与能力提升四年路线图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697480" cy="1005840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大 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夯实基础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25880"/>
            <a:ext cx="269748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371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大 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专业筑基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269748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大 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方向聚焦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25880"/>
            <a:ext cx="2697480" cy="100584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716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大 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冲刺收获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68880"/>
            <a:ext cx="2697480" cy="3520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通识课 + 数学三件套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土木工程概论（了解行业）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CET-4/6 英语四六级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计算机二级（MS Office）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阅读建筑行业概览书籍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参加学院职业规划讲座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468880"/>
            <a:ext cx="2697480" cy="3520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26060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管理/经济/会计/运筹学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组织行为学 / 战略管理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BIM职业技能等级证书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初级造价员基础学习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加入商赛/房地产社团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寒假短期企业见习起步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468880"/>
            <a:ext cx="2697480" cy="3520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选定微方向深入学习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国际工程/房地产/数智方向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暑期实习（陕建/中建/万科）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挑战杯/互联网+竞赛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考研数学+英语基础启动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考公行测+申论初步了解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468880"/>
            <a:ext cx="2697480" cy="3520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6060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毕业设计 + 毕业论文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秋招签约 / 春招补录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考研统考12月 + 复试3月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1">
                <a:solidFill>
                  <a:srgbClr val="C41E2A"/>
                </a:solidFill>
                <a:latin typeface="Microsoft YaHei"/>
              </a:defRPr>
            </a:pPr>
            <a:r>
              <a:t>⏺ 考公国考11月 + 省考3月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PMP/二级建造师（达标报考）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2D2D2D"/>
                </a:solidFill>
                <a:latin typeface="Microsoft YaHei"/>
              </a:defRPr>
            </a:pPr>
            <a:r>
              <a:t>实习转正答辩 / 三方落定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「大一不迷茫 → 大二有方向 → 大三能落地 → 大四见分晓」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五大核心能力培养路径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91440" cy="804672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490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项 目 管 理 软 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56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📖 MS Project / Primavera P6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🎯 目标：能独立编制进度计划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⏱ 大三上学期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50008"/>
            <a:ext cx="10332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350008"/>
            <a:ext cx="91440" cy="8046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建 筑 行 业 数 据 分 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📖 Excel高级 + Python基础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87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🎯 目标：能做成本分析+数据看板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⏱ 大二下 → 大三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82696"/>
            <a:ext cx="10332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282696"/>
            <a:ext cx="91440" cy="8046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355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BIM 基 础 认 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21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📖 Revit基础 + 广联达BIM5D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419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🎯 目标：能看懂模型+提取工程量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4198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⏱ 大二暑假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15384"/>
            <a:ext cx="10332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215384"/>
            <a:ext cx="91440" cy="804672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2885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沟 通 协 调 与 汇 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54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📖 课堂展示 + 竞赛路演 + 社团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3525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🎯 目标：独立进行项目汇报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352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⏱ 全程培养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48072"/>
            <a:ext cx="10332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148072"/>
            <a:ext cx="91440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2212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工 程 合 同 与 招 投 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869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📖 建设工程合同管理 + 标准招标文件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285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Microsoft YaHei"/>
              </a:defRPr>
            </a:pPr>
            <a:r>
              <a:t>🎯 目标：能读懂合同核心条款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⏱ 大三上学期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▸ 竞赛进阶：课堂学习 → 院赛选拔 → 校赛 → "互联网+"/"挑战杯"省赛/国赛   |   实习进阶：大一参观 → 大二见习 → 大三暑期实习 → 大四转正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1440" cy="27432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C41E2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未来职业方向选择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70"/>
                </a:solidFill>
                <a:latin typeface="Microsoft YaHei"/>
              </a:defRPr>
            </a:pPr>
            <a:r>
              <a:t>就业 · 升学 · 考公 —— 三条路径全面解析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路径一：建筑行业管理岗位就业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1554480"/>
            <a:ext cx="274320" cy="27432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建筑施工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26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管培生 → 项目助理 → 项目经理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007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陕建集团 / 中建三局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6-8K/月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33172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037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房地产开发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策划专员 → 投资拓展经理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780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万科西北 / 碧桂园陕西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7-9K/月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" y="3108960"/>
            <a:ext cx="274320" cy="2743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29809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88"/>
                </a:solidFill>
                <a:latin typeface="Microsoft YaHei"/>
              </a:defRPr>
            </a:pPr>
            <a:r>
              <a:t>工程咨询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80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招投标专员 → 成本控制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中国建设咨询 / 西北设计院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88"/>
                </a:solidFill>
                <a:latin typeface="Microsoft YaHei"/>
              </a:defRPr>
            </a:pPr>
            <a:r>
              <a:t>5-7K/月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0332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3886200"/>
            <a:ext cx="274320" cy="274320"/>
          </a:xfrm>
          <a:prstGeom prst="ellipse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375818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37B33"/>
                </a:solidFill>
                <a:latin typeface="Microsoft YaHei"/>
              </a:defRPr>
            </a:pPr>
            <a:r>
              <a:t>建筑科技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5818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数字化运营 / BIM协调员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0325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广联达 / 品茗科技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7947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37B33"/>
                </a:solidFill>
                <a:latin typeface="Microsoft YaHei"/>
              </a:defRPr>
            </a:pPr>
            <a:r>
              <a:t>8-10K/月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480560"/>
            <a:ext cx="103327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300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45354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Microsoft YaHei"/>
              </a:defRPr>
            </a:pPr>
            <a:r>
              <a:t>国际工程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535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商务助理 → 国际商务经理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8097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Microsoft YaHei"/>
              </a:defRPr>
            </a:pPr>
            <a:r>
              <a:t>中建海外部 / 中国电建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Microsoft YaHei"/>
              </a:defRPr>
            </a:pPr>
            <a:r>
              <a:t>10-15K/月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▸ 就业准备时间线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5806440"/>
            <a:ext cx="228600" cy="22860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0" y="5897880"/>
            <a:ext cx="201168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126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大二下</a:t>
            </a:r>
            <a:br/>
            <a:r>
              <a:t>简历初稿</a:t>
            </a:r>
          </a:p>
        </p:txBody>
      </p:sp>
      <p:sp>
        <p:nvSpPr>
          <p:cNvPr id="38" name="Oval 37"/>
          <p:cNvSpPr/>
          <p:nvPr/>
        </p:nvSpPr>
        <p:spPr>
          <a:xfrm>
            <a:off x="3749039" y="5806440"/>
            <a:ext cx="228600" cy="22860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23360" y="5897880"/>
            <a:ext cx="201168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6126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大三上</a:t>
            </a:r>
            <a:br/>
            <a:r>
              <a:t>企业开放日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0" y="5806440"/>
            <a:ext cx="228600" cy="22860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897880"/>
            <a:ext cx="201168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6126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大三暑假</a:t>
            </a:r>
            <a:br/>
            <a:r>
              <a:t>正式实习</a:t>
            </a:r>
          </a:p>
        </p:txBody>
      </p:sp>
      <p:sp>
        <p:nvSpPr>
          <p:cNvPr id="44" name="Oval 43"/>
          <p:cNvSpPr/>
          <p:nvPr/>
        </p:nvSpPr>
        <p:spPr>
          <a:xfrm>
            <a:off x="8138159" y="5806440"/>
            <a:ext cx="228600" cy="22860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0" y="5897880"/>
            <a:ext cx="201168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6126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大四上</a:t>
            </a:r>
            <a:br/>
            <a:r>
              <a:t>秋招投递</a:t>
            </a:r>
          </a:p>
        </p:txBody>
      </p:sp>
      <p:sp>
        <p:nvSpPr>
          <p:cNvPr id="47" name="Oval 46"/>
          <p:cNvSpPr/>
          <p:nvPr/>
        </p:nvSpPr>
        <p:spPr>
          <a:xfrm>
            <a:off x="10332719" y="5806440"/>
            <a:ext cx="228600" cy="228600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6126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Microsoft YaHei"/>
              </a:defRPr>
            </a:pPr>
            <a:r>
              <a:t>大四下</a:t>
            </a:r>
            <a:br/>
            <a:r>
              <a:t>最终签约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路径二：升学深造 —— 理论进阶与学历提升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91440" cy="1371600"/>
          </a:xfrm>
          <a:prstGeom prst="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7B33"/>
                </a:solidFill>
                <a:latin typeface="Microsoft YaHei"/>
              </a:defRPr>
            </a:pPr>
            <a:r>
              <a:t>本校读研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方向：管理科学与工程 / 工商管理(MBA)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73E8"/>
                </a:solidFill>
                <a:latin typeface="Microsoft YaHei"/>
              </a:defRPr>
            </a:pPr>
            <a:r>
              <a:t>目标院校：西安建筑科技大学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考试科目：数三 + 管理学原理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💡 省级重点学科 | 可提前联系导师 | 关注保研政策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10332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91440" cy="13716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Microsoft YaHei"/>
              </a:defRPr>
            </a:pPr>
            <a:r>
              <a:t>外校考研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方向：建筑类强校管理专业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73E8"/>
                </a:solidFill>
                <a:latin typeface="Microsoft YaHei"/>
              </a:defRPr>
            </a:pPr>
            <a:r>
              <a:t>目标院校：同济大学 / 重庆大学 / 哈工大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考试科目：数三/数一 + 专业课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💡 大三启动备考 | 关注目标院校夏令营 | 专业课针对性准备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80560"/>
            <a:ext cx="103327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480560"/>
            <a:ext cx="9144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590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Microsoft YaHei"/>
              </a:defRPr>
            </a:pPr>
            <a:r>
              <a:t>出国留学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方向：工程管理 / 房地产金融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73E8"/>
                </a:solidFill>
                <a:latin typeface="Microsoft YaHei"/>
              </a:defRPr>
            </a:pPr>
            <a:r>
              <a:t>目标院校：英国雷丁 / 香港理工 / 墨尔本大学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考试科目：IELTS 6.5+ + GPA 3.0+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💡 关注QS专业排名 | 提前准备语言 | 积累科研经历</a:t>
            </a:r>
          </a:p>
        </p:txBody>
      </p:sp>
      <p:sp>
        <p:nvSpPr>
          <p:cNvPr id="25" name="Oval 24"/>
          <p:cNvSpPr/>
          <p:nvPr/>
        </p:nvSpPr>
        <p:spPr>
          <a:xfrm>
            <a:off x="1554480" y="5989320"/>
            <a:ext cx="201168" cy="20116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3080" y="6071616"/>
            <a:ext cx="201168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大二暑假</a:t>
            </a:r>
            <a:br/>
            <a:r>
              <a:t>确定方向</a:t>
            </a:r>
          </a:p>
        </p:txBody>
      </p:sp>
      <p:sp>
        <p:nvSpPr>
          <p:cNvPr id="28" name="Oval 27"/>
          <p:cNvSpPr/>
          <p:nvPr/>
        </p:nvSpPr>
        <p:spPr>
          <a:xfrm>
            <a:off x="3749039" y="5989320"/>
            <a:ext cx="201168" cy="20116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77639" y="6071616"/>
            <a:ext cx="201168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大三上</a:t>
            </a:r>
            <a:br/>
            <a:r>
              <a:t>数学/英语</a:t>
            </a:r>
          </a:p>
        </p:txBody>
      </p:sp>
      <p:sp>
        <p:nvSpPr>
          <p:cNvPr id="31" name="Oval 30"/>
          <p:cNvSpPr/>
          <p:nvPr/>
        </p:nvSpPr>
        <p:spPr>
          <a:xfrm>
            <a:off x="5943600" y="5989320"/>
            <a:ext cx="201168" cy="20116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6071616"/>
            <a:ext cx="201168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大三寒假</a:t>
            </a:r>
            <a:br/>
            <a:r>
              <a:t>真题集训</a:t>
            </a:r>
          </a:p>
        </p:txBody>
      </p:sp>
      <p:sp>
        <p:nvSpPr>
          <p:cNvPr id="34" name="Oval 33"/>
          <p:cNvSpPr/>
          <p:nvPr/>
        </p:nvSpPr>
        <p:spPr>
          <a:xfrm>
            <a:off x="8138159" y="5989320"/>
            <a:ext cx="201168" cy="20116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66759" y="6071616"/>
            <a:ext cx="2011680" cy="36576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大三下</a:t>
            </a:r>
            <a:br/>
            <a:r>
              <a:t>专业课</a:t>
            </a:r>
          </a:p>
        </p:txBody>
      </p:sp>
      <p:sp>
        <p:nvSpPr>
          <p:cNvPr id="37" name="Oval 36"/>
          <p:cNvSpPr/>
          <p:nvPr/>
        </p:nvSpPr>
        <p:spPr>
          <a:xfrm>
            <a:off x="10332719" y="5989320"/>
            <a:ext cx="201168" cy="201168"/>
          </a:xfrm>
          <a:prstGeom prst="ellipse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大四上</a:t>
            </a:r>
            <a:br/>
            <a:r>
              <a:t>冲刺模考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路径三：公务员与事业单位 —— 公共服务赛道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国考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住建部 / 发改委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7B33"/>
                </a:solidFill>
                <a:latin typeface="Microsoft YaHei"/>
              </a:defRPr>
            </a:pPr>
            <a:r>
              <a:t>高度对口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1:100+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103327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省考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省住建厅 / 自然资源厅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7B33"/>
                </a:solidFill>
                <a:latin typeface="Microsoft YaHei"/>
              </a:defRPr>
            </a:pPr>
            <a:r>
              <a:t>高度对口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中等偏高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10332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市考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市住建局 / 区建设局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7B33"/>
                </a:solidFill>
                <a:latin typeface="Microsoft YaHei"/>
              </a:defRPr>
            </a:pPr>
            <a:r>
              <a:t>对口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429000"/>
            <a:ext cx="10332720" cy="548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事业单位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工程质量监督站 / 公共资源交易中心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7B33"/>
                </a:solidFill>
                <a:latin typeface="Microsoft YaHei"/>
              </a:defRPr>
            </a:pPr>
            <a:r>
              <a:t>对口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14800"/>
            <a:ext cx="10332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2A"/>
                </a:solidFill>
                <a:latin typeface="Microsoft YaHei"/>
              </a:defRPr>
            </a:pPr>
            <a:r>
              <a:t>国企编制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城投公司 / 保障房建设公司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7B33"/>
                </a:solidFill>
                <a:latin typeface="Microsoft YaHei"/>
              </a:defRPr>
            </a:pPr>
            <a:r>
              <a:t>高度对口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Microsoft YaHei"/>
              </a:defRPr>
            </a:pPr>
            <a:r>
              <a:t>中等偏低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937760"/>
            <a:ext cx="10332720" cy="1188720"/>
          </a:xfrm>
          <a:prstGeom prst="roundRect">
            <a:avLst/>
          </a:prstGeom>
          <a:solidFill>
            <a:srgbClr val="137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西建大考公核心优势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40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✦ 住建系统对西建大认可度较高，"建筑老八校"品牌在体制内有辨识度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✦ 建筑类岗位限制专业，竞争比远低于"三不限"通用岗位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✦ 校友网络广泛分布于西北地区住建系统，可提前了解招录动态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Microsoft YaHei"/>
              </a:defRPr>
            </a:pPr>
            <a:r>
              <a:t>👤 适合人群：追求稳定 · 对公共政策感兴趣 · 重视工作生活平衡 · 愿意长期在体制内发展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Microsoft YaHei"/>
              </a:defRPr>
            </a:pPr>
            <a:r>
              <a:t>小组分工与成员观点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74320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2377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📋 小组分工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920240"/>
            <a:ext cx="3108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成员A（组长）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128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整体框架 &amp; 第一二部分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95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70"/>
                </a:solidFill>
                <a:latin typeface="Microsoft YaHei"/>
              </a:defRPr>
            </a:pPr>
            <a:r>
              <a:t>专业现状与趋势分析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108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成员B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第三部分：学习规划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95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70"/>
                </a:solidFill>
                <a:latin typeface="Microsoft YaHei"/>
              </a:defRPr>
            </a:pPr>
            <a:r>
              <a:t>四年时间轴 &amp; 技能提升路径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920240"/>
            <a:ext cx="3108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成员C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2128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第四部分：职业方向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957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70"/>
                </a:solidFill>
                <a:latin typeface="Microsoft YaHei"/>
              </a:defRPr>
            </a:pPr>
            <a:r>
              <a:t>三路径解析 &amp; 数据搜集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2788920"/>
            <a:ext cx="3108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83463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成员D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设计美化 &amp; 数据可视化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644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70"/>
                </a:solidFill>
                <a:latin typeface="Microsoft YaHei"/>
              </a:defRPr>
            </a:pPr>
            <a:r>
              <a:t>PPT 排版 &amp; 图表制作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788920"/>
            <a:ext cx="3108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83463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成员E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资料搜集 &amp; 演讲备注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2644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70"/>
                </a:solidFill>
                <a:latin typeface="Microsoft YaHei"/>
              </a:defRPr>
            </a:pPr>
            <a:r>
              <a:t>课程数据 &amp; 就业数据整理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788920"/>
            <a:ext cx="31089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83463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2A"/>
                </a:solidFill>
                <a:latin typeface="Microsoft YaHei"/>
              </a:defRPr>
            </a:pPr>
            <a:r>
              <a:t>成员F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审校 &amp; 模拟演练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2644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70"/>
                </a:solidFill>
                <a:latin typeface="Microsoft YaHei"/>
              </a:defRPr>
            </a:pPr>
            <a:r>
              <a:t>内容审核 &amp; 演讲演练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Microsoft YaHei"/>
              </a:defRPr>
            </a:pPr>
            <a:r>
              <a:t>💬 成员个人观点摘录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34340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343400"/>
            <a:ext cx="338328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4531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🟡 务实就业派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727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"想进建筑行业做管理，大三去陕建项目实习，从管培生做起，目标5-8年做到项目经理。"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34340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4343400"/>
            <a:ext cx="338328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4531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🟢 考研深造派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727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"大三备考同济大学管科，读研专攻工程项目管理，毕业选择面会宽很多。"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34340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343400"/>
            <a:ext cx="338328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4531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🟠 考公稳定派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7274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"参加国考或省考，目标住建局。"建筑老八校"背景在专业限制岗位上有优势。"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39496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5394960"/>
            <a:ext cx="338328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504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🔵 跨界转型派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7790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"想尝试建筑科技方向。自学Python，目标广联达做商务数据分析。"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539496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5394960"/>
            <a:ext cx="338328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5504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🟣 国际工程派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57790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"英语底子好，想去中建海外或咨询外企，走国际商务方向。"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39496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5394960"/>
            <a:ext cx="3383280" cy="54864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5504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Microsoft YaHei"/>
              </a:defRPr>
            </a:pPr>
            <a:r>
              <a:t>🔴 探索观望派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577900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Microsoft YaHei"/>
              </a:defRPr>
            </a:pPr>
            <a:r>
              <a:t>"还没完全确定，大二多参加商赛，大三实习后再定，先保证不挂科+四六级。"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2026.05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41E2A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109728" cy="365760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规划未来 · 行则将至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01752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今天的规划，是明天的底气。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07070"/>
                </a:solidFill>
                <a:latin typeface="Microsoft YaHei"/>
              </a:defRPr>
            </a:pPr>
            <a:r>
              <a:t>工商管理是一个"上限很高"的专业 —— 它不会限定你的职业边界，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707070"/>
                </a:solidFill>
                <a:latin typeface="Microsoft YaHei"/>
              </a:defRPr>
            </a:pPr>
            <a:r>
              <a:t>但也不会替你铺好每一步路。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在西安建筑科技大学管理学院，我们拥有：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 ▶  60 年建筑经济管理的历史积淀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 ▶  国家级一流专业的平台支撑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 ▶  "建筑 + 管理 + 数智" 的独特定位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无论选择就业、升学还是考公，提前 2-3 年规划，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一步一个脚印执行，就是我们最大的竞争力。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60720"/>
            <a:ext cx="3657600" cy="45720"/>
          </a:xfrm>
          <a:prstGeom prst="rect">
            <a:avLst/>
          </a:prstGeom>
          <a:solidFill>
            <a:srgbClr val="C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943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感谢聆听！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6309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Microsoft YaHei"/>
              </a:defRPr>
            </a:pPr>
            <a:r>
              <a:t>西安建筑科技大学管理学院 · 工商管理专业 · 宿舍小组 ·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